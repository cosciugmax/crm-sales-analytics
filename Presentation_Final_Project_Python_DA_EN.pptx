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81F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6181F"/>
                </a:solidFill>
                <a:latin typeface="Trebuchet MS"/>
              </a:rPr>
              <a:t>Conversion by source,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CR, %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18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Webinar</c:v>
                  </c:pt>
                  <c:pt idx="1">
                    <c:v>Organic</c:v>
                  </c:pt>
                  <c:pt idx="2">
                    <c:v>SMM</c:v>
                  </c:pt>
                  <c:pt idx="3">
                    <c:v>Facebook</c:v>
                  </c:pt>
                  <c:pt idx="4">
                    <c:v>Google</c:v>
                  </c:pt>
                  <c:pt idx="5">
                    <c:v>Telegram</c:v>
                  </c:pt>
                  <c:pt idx="6">
                    <c:v>Youtube</c:v>
                  </c:pt>
                  <c:pt idx="7">
                    <c:v>Tiktok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6.88</c:v>
                </c:pt>
                <c:pt idx="1">
                  <c:v>5.68</c:v>
                </c:pt>
                <c:pt idx="2">
                  <c:v>5.26</c:v>
                </c:pt>
                <c:pt idx="3">
                  <c:v>4.17</c:v>
                </c:pt>
                <c:pt idx="4">
                  <c:v>4.1</c:v>
                </c:pt>
                <c:pt idx="5">
                  <c:v>4</c:v>
                </c:pt>
                <c:pt idx="6">
                  <c:v>3.2</c:v>
                </c:pt>
                <c:pt idx="7">
                  <c:v>2.73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18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81F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6181F"/>
                </a:solidFill>
                <a:latin typeface="Trebuchet MS"/>
              </a:rPr>
              <a:t>ROMI by source,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ROMI, %</c:v>
                </c:pt>
              </c:strCache>
            </c:strRef>
          </c:tx>
          <c:spPr>
            <a:solidFill>
              <a:srgbClr val="4F6B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18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Webinar</c:v>
                  </c:pt>
                  <c:pt idx="1">
                    <c:v>SMM</c:v>
                  </c:pt>
                  <c:pt idx="2">
                    <c:v>Facebook</c:v>
                  </c:pt>
                  <c:pt idx="3">
                    <c:v>Telegram</c:v>
                  </c:pt>
                  <c:pt idx="4">
                    <c:v>Tiktok</c:v>
                  </c:pt>
                  <c:pt idx="5">
                    <c:v>Youtube</c:v>
                  </c:pt>
                  <c:pt idx="6">
                    <c:v>Google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1819</c:v>
                </c:pt>
                <c:pt idx="1">
                  <c:v>1224</c:v>
                </c:pt>
                <c:pt idx="2">
                  <c:v>558</c:v>
                </c:pt>
                <c:pt idx="3">
                  <c:v>511</c:v>
                </c:pt>
                <c:pt idx="4">
                  <c:v>456</c:v>
                </c:pt>
                <c:pt idx="5">
                  <c:v>306</c:v>
                </c:pt>
                <c:pt idx="6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18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CR, %</c:v>
                </c:pt>
              </c:strCache>
            </c:strRef>
          </c:tx>
          <c:spPr>
            <a:solidFill>
              <a:srgbClr val="4F6B0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8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6B0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A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CC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7CCD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 — High</c:v>
                  </c:pt>
                  <c:pt idx="1">
                    <c:v>B — Medium</c:v>
                  </c:pt>
                  <c:pt idx="2">
                    <c:v>C — Low</c:v>
                  </c:pt>
                  <c:pt idx="3">
                    <c:v>D — Non Target</c:v>
                  </c:pt>
                  <c:pt idx="4">
                    <c:v>E — Non Qual.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33.1</c:v>
                </c:pt>
                <c:pt idx="1">
                  <c:v>20.9</c:v>
                </c:pt>
                <c:pt idx="2">
                  <c:v>10.3</c:v>
                </c:pt>
                <c:pt idx="3">
                  <c:v>0.5</c:v>
                </c:pt>
                <c:pt idx="4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18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640080"/>
            <a:ext cx="457200" cy="457200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6583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· IT CAREER 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ANALYTICS · FINAL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data analysis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an online coding school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EDA · marketing &amp; sales · unit economics · growth hypotheses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Defense date: </a:t>
            </a:r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and source data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38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analyst receives a project from an online coding school. The CRM tracks lead and deal statuses. The data must be cleaned and analyzed to improve the school's performance.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6181F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2960" y="3767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3262F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87705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7673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22960" y="422452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analyzing CRM data to improve performance: understand growth sources, find conversion drivers and formulate testable hypotheses.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5508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CRM tables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55080" y="160020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583680" y="18288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30" y="1929750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18562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8368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21 595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601968" y="2862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and leads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89720" y="160020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9418320" y="18288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9270" y="1929750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66960" y="18562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41832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95 874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436608" y="2862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355080" y="3410712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6583680" y="36393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30" y="3740262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0" y="36667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6583680" y="41239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18 548</a:t>
            </a:r>
            <a:endParaRPr lang="en-US" sz="3000" dirty="0"/>
          </a:p>
        </p:txBody>
      </p:sp>
      <p:sp>
        <p:nvSpPr>
          <p:cNvPr id="33" name="Text 26"/>
          <p:cNvSpPr/>
          <p:nvPr/>
        </p:nvSpPr>
        <p:spPr>
          <a:xfrm>
            <a:off x="6601968" y="4672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9189720" y="3410712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9418320" y="36393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9270" y="3740262"/>
            <a:ext cx="218724" cy="2187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66960" y="36667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9418320" y="41239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20 779</a:t>
            </a:r>
            <a:endParaRPr lang="en-US" sz="3000" dirty="0"/>
          </a:p>
        </p:txBody>
      </p:sp>
      <p:sp>
        <p:nvSpPr>
          <p:cNvPr id="39" name="Text 31"/>
          <p:cNvSpPr/>
          <p:nvPr/>
        </p:nvSpPr>
        <p:spPr>
          <a:xfrm>
            <a:off x="9436608" y="4672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rows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workflow stages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920240"/>
            <a:ext cx="1920240" cy="109728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34440" y="2240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114" y="23719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186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3730752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date/number types, missing values, derived features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05456" y="288036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834640" y="19202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834640" y="1920240"/>
            <a:ext cx="1920240" cy="109728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520440" y="2240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237195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346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834640" y="32186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2944368" y="3730752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mode, range; categorical fields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91456" y="288036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5120640" y="19202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120640" y="1920240"/>
            <a:ext cx="1920240" cy="109728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806440" y="2240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114" y="237195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206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5120640" y="32186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5230368" y="3730752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campaigns, products, geo, funnel, calls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077456" y="288036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4"/>
          <p:cNvSpPr/>
          <p:nvPr/>
        </p:nvSpPr>
        <p:spPr>
          <a:xfrm>
            <a:off x="7406640" y="19202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7406640" y="1920240"/>
            <a:ext cx="1920240" cy="109728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8092440" y="2240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114" y="2371954"/>
            <a:ext cx="285293" cy="28529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066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7406640" y="32186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economics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7516368" y="3730752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ROMI by channel; business metrics tree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9363456" y="288036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37" name="Shape 31"/>
          <p:cNvSpPr/>
          <p:nvPr/>
        </p:nvSpPr>
        <p:spPr>
          <a:xfrm>
            <a:off x="9692640" y="19202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38" name="Shape 32"/>
          <p:cNvSpPr/>
          <p:nvPr/>
        </p:nvSpPr>
        <p:spPr>
          <a:xfrm>
            <a:off x="9692640" y="1920240"/>
            <a:ext cx="1920240" cy="109728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9" name="Shape 33"/>
          <p:cNvSpPr/>
          <p:nvPr/>
        </p:nvSpPr>
        <p:spPr>
          <a:xfrm>
            <a:off x="10378440" y="2240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0114" y="2371954"/>
            <a:ext cx="285293" cy="285293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926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42" name="Text 35"/>
          <p:cNvSpPr/>
          <p:nvPr/>
        </p:nvSpPr>
        <p:spPr>
          <a:xfrm>
            <a:off x="9692640" y="32186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Hypotheses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9802368" y="3730752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point, A/B design and feasibility check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6181F"/>
          </a:solidFill>
          <a:ln/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822960" y="4983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" y="5082235"/>
            <a:ext cx="213970" cy="21397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37160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cleaning decisions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868680" y="5413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Ids and full-row duplicates removed; repeat leads (Lost = Duplicate) kept and flagged.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comes as a reaction time (datetime.time) — converted to hours; ~23% of rows with a closing date before creation are excluded from the duration analysis.</a:t>
            </a: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BIG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business metrics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2194560"/>
            <a:ext cx="1993392" cy="9144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26974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21 581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processed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16352" y="219456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16352" y="2194560"/>
            <a:ext cx="1993392" cy="91440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889504" y="26974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26080" y="361188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deals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19456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84064" y="2194560"/>
            <a:ext cx="1993392" cy="91440"/>
          </a:xfrm>
          <a:prstGeom prst="rect">
            <a:avLst/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57216" y="26974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3.98%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93792" y="361188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to payment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51776" y="219456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51776" y="2194560"/>
            <a:ext cx="1993392" cy="91440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24928" y="26974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943 651 €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61504" y="361188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(actual payments)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19488" y="219456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619488" y="2194560"/>
            <a:ext cx="1993392" cy="91440"/>
          </a:xfrm>
          <a:prstGeom prst="rect">
            <a:avLst/>
          </a:prstGeom>
          <a:solidFill>
            <a:srgbClr val="F278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92640" y="26974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~1 100 €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729216" y="361188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check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E2A12"/>
          </a:solidFill>
          <a:ln w="12700">
            <a:solidFill>
              <a:srgbClr val="4F6B0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2960" y="5120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6B0A"/>
          </a:solidFill>
          <a:ln/>
        </p:spPr>
        <p:txBody>
          <a:bodyPr/>
          <a:p/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230368"/>
            <a:ext cx="237744" cy="2377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63040" y="50749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takeaway.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to payment is low (~4%), yet each successful lead pays off many times over — the main growth potential lies in lead quality and funnel work, not in increasing the budget.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sources: conversion and payback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55080" y="155448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Webinar, Organic and SMM combine high conversion and payback. All paid channels are profitable; Organic delivers large revenue at zero cost — an underrated channel.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#1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quality determines conversion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16181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68096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×60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80960" y="26974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gap between A-High (33%) and D-Non Target (0.5%) leads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0" y="374904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68096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15" y="4030675"/>
            <a:ext cx="213970" cy="2139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83880" y="3950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772400" y="443484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qualification system works correctly.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share of A/B leads raises overall conversion without budget growth.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~64% of leads are categories D and E (low quality).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BREAKDOWN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Products, geography and language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44240" cy="40233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691640"/>
            <a:ext cx="3444240" cy="128016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1031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23918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834640"/>
            <a:ext cx="280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108960"/>
            <a:ext cx="280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Marketing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68680" y="3703320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539 100 €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68680" y="4389120"/>
            <a:ext cx="2804160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68680" y="4526280"/>
            <a:ext cx="280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leader; then UX/UI Design (€261,100) and Web Developer (€143,450)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58640" y="1691640"/>
            <a:ext cx="3444240" cy="40233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358640" y="1691640"/>
            <a:ext cx="3444240" cy="128016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678680" y="21031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743" y="2239183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78680" y="2834640"/>
            <a:ext cx="280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78680" y="3108960"/>
            <a:ext cx="280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Berlin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4678680" y="3703320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86 450 €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4678680" y="4389120"/>
            <a:ext cx="2804160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4678680" y="4526280"/>
            <a:ext cx="280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market; München (€27,100) and Hamburg (€23,650) next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168640" y="1691640"/>
            <a:ext cx="3444240" cy="40233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8168640" y="1691640"/>
            <a:ext cx="3444240" cy="128016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488680" y="21031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743" y="2239183"/>
            <a:ext cx="294803" cy="29480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88680" y="2834640"/>
            <a:ext cx="280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LANGUAGE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488680" y="3108960"/>
            <a:ext cx="280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B1</a:t>
            </a:r>
            <a:endParaRPr lang="en-US" sz="2100" dirty="0"/>
          </a:p>
        </p:txBody>
      </p:sp>
      <p:sp>
        <p:nvSpPr>
          <p:cNvPr id="29" name="Text 24"/>
          <p:cNvSpPr/>
          <p:nvPr/>
        </p:nvSpPr>
        <p:spPr>
          <a:xfrm>
            <a:off x="8488680" y="3703320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371 000 €+</a:t>
            </a:r>
            <a:endParaRPr lang="en-US" sz="2600" dirty="0"/>
          </a:p>
        </p:txBody>
      </p:sp>
      <p:sp>
        <p:nvSpPr>
          <p:cNvPr id="30" name="Shape 25"/>
          <p:cNvSpPr/>
          <p:nvPr/>
        </p:nvSpPr>
        <p:spPr>
          <a:xfrm>
            <a:off x="8488680" y="4389120"/>
            <a:ext cx="2804160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8488680" y="4526280"/>
            <a:ext cx="280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level and peak revenue; higher conversion for C1 and B1/B2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&amp;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Stages, deal cycle and calls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of deals by stage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4206240" cy="310896"/>
          </a:xfrm>
          <a:prstGeom prst="roundRect">
            <a:avLst>
              <a:gd name="adj" fmla="val 11765"/>
            </a:avLst>
          </a:prstGeom>
          <a:solidFill>
            <a:srgbClr val="C7CC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0" y="223113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15 736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066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Delayed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600891" cy="310896"/>
          </a:xfrm>
          <a:prstGeom prst="roundRect">
            <a:avLst>
              <a:gd name="adj" fmla="val 11765"/>
            </a:avLst>
          </a:prstGeom>
          <a:solidFill>
            <a:srgbClr val="AEB4C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0971" y="29443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2 248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1985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 Webinar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552777" cy="310896"/>
          </a:xfrm>
          <a:prstGeom prst="roundRect">
            <a:avLst>
              <a:gd name="adj" fmla="val 11765"/>
            </a:avLst>
          </a:prstGeom>
          <a:solidFill>
            <a:srgbClr val="6C5CE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92857" y="36576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2 068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330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Payment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457200" cy="310896"/>
          </a:xfrm>
          <a:prstGeom prst="roundRect">
            <a:avLst>
              <a:gd name="adj" fmla="val 11765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97280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457200" cy="310896"/>
          </a:xfrm>
          <a:prstGeom prst="roundRect">
            <a:avLst>
              <a:gd name="adj" fmla="val 11765"/>
            </a:avLst>
          </a:prstGeom>
          <a:solidFill>
            <a:srgbClr val="4F6B0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7280" y="508406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69164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812280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2011680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36092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 deal cycle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1228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</a:rPr>
              <a:t>~34 days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  on average (median 17)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12280" y="28529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all closed deals (incl. Lost) — 18 days, but this is a biased estimate: losses "close" quickly.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0" y="370332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16181F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812280" y="3913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4023360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6092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Calls and lead flow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812280" y="4434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F24E"/>
                </a:solidFill>
              </a:rPr>
              <a:t>0.94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  correlation "calls ↔ leads"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6812280" y="4846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follows lead inflow almost linearly (~93k calls, average duration ~165 sec). Calls are a resource for the funnel load.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tree and growth point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6181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12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560320"/>
            <a:ext cx="457200" cy="-91440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74720" y="214884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11880" y="2221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 deals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leads × Conversion 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2560320"/>
            <a:ext cx="457200" cy="1234440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74720" y="347472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11880" y="3547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check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price × upsells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is affected by:  lead quality · source · deal owner · funnel stage · German level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4983480" cy="3977640"/>
          </a:xfrm>
          <a:prstGeom prst="roundRect">
            <a:avLst>
              <a:gd name="adj" fmla="val 2299"/>
            </a:avLst>
          </a:prstGeom>
          <a:solidFill>
            <a:srgbClr val="1E2A12"/>
          </a:solidFill>
          <a:ln w="12700">
            <a:solidFill>
              <a:srgbClr val="4F6B0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94944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6B0A"/>
          </a:solidFill>
          <a:ln/>
        </p:spPr>
        <p:txBody>
          <a:bodyPr/>
          <a:p/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0141" y="2223821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89520" y="2121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growth point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949440" y="27432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share of high-quality leads (A-High, B-Medium) through the most effective acquisition channels — Webinar, SMM, Facebook.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949440" y="3794760"/>
            <a:ext cx="4434840" cy="0"/>
          </a:xfrm>
          <a:prstGeom prst="line">
            <a:avLst/>
          </a:prstGeom>
          <a:noFill/>
          <a:ln w="12700">
            <a:solidFill>
              <a:srgbClr val="4F6B0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949440" y="3931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the metric: </a:t>
            </a:r>
            <a:pPr indent="0" marL="0">
              <a:buNone/>
            </a:pPr>
            <a:r>
              <a:rPr lang="en-US" sz="13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49440" y="43891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growth in conversion and revenue without a significant increase in the marketing budget.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that deliver results within 14 days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A1A10"/>
          </a:solidFill>
          <a:ln w="12700">
            <a:solidFill>
              <a:srgbClr val="F2784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7190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A2415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817827"/>
            <a:ext cx="213970" cy="2139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7276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on the final conversion (~4%) is impossible in 14 days — it needs ~80,000 leads (≈1300 days). Solution: test metrics with a high base and large daily volume.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1371600"/>
                <a:gridCol w="26517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/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Detectable within 14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· Optimizing call timing → connect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 pp (rel. +4%)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F6B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· Instant re-dial on a missed call → connect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 pp (rel. +4%)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F6B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 · Speed-to-lead (contact &lt;1h) → lead qualification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 pp (rel. +47%)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7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7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effect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02920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777240" y="5212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" y="5310835"/>
            <a:ext cx="213970" cy="2139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and criterion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77240" y="56509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(α = 0.05, power 0.80). Success — a significant metric increase (p &lt; 0.05) without worsening CAC and ROMI.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17920" y="5029200"/>
            <a:ext cx="5532120" cy="1325880"/>
          </a:xfrm>
          <a:prstGeom prst="roundRect">
            <a:avLst>
              <a:gd name="adj" fmla="val 6897"/>
            </a:avLst>
          </a:prstGeom>
          <a:solidFill>
            <a:srgbClr val="16181F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446520" y="5212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3262F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275" y="5310835"/>
            <a:ext cx="213970" cy="2139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46520" y="56509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of metric matters more than the hypothesis itself: the right (frequent, high-base) metric makes the test feasible in time.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and discoveries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0866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data quality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is stored as a reaction time, not seconds; ~23% of deals have a closing date before creation; Payment Type is 97.7% empty.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3796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08666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counts as revenue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6060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Amount Paid (actual payment) vs Offer Total Amount (full contract) — the choice strongly changes the average check and LTV.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2296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6F24E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32694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245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Duplicates ≠ junk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846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leads (Lost = Duplicate) are real funnel events; removing them would distort conversion, so they are flagged.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6181F"/>
          </a:solidFill>
          <a:ln w="12700">
            <a:solidFill>
              <a:srgbClr val="4F6B0A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53796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3262F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432694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2245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discovery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37960" y="4846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conversion cannot be tested in 14 days. This reframed the approach: look for high-base metrics (connect rate, qualification).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548640"/>
            <a:ext cx="146304" cy="146304"/>
          </a:xfrm>
          <a:prstGeom prst="rect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4846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and recommendations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2039112"/>
            <a:ext cx="457200" cy="457200"/>
          </a:xfrm>
          <a:prstGeom prst="ellipse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9019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on lead quality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240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acquisition toward channels with a high share of A/B leads (Webinar, SMM, Facebook, Organic).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29718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 the funnel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3101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losses are at the Lost stage. Strengthen work at the Call Delayed and Registered on Webinar stages.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22776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04164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fast A/B tests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37997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connect rate: a result in 14 days with a detectable effect of +3.5 pp.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92624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23262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5248656"/>
            <a:ext cx="457200" cy="457200"/>
          </a:xfrm>
          <a:prstGeom prst="ellipse">
            <a:avLst/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248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51114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up the CRM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544982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Payment Type entry and correct dates — the basis for future analytics.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0" y="1783080"/>
            <a:ext cx="3154680" cy="4315968"/>
          </a:xfrm>
          <a:prstGeom prst="roundRect">
            <a:avLst>
              <a:gd name="adj" fmla="val 3478"/>
            </a:avLst>
          </a:prstGeom>
          <a:solidFill>
            <a:srgbClr val="C6F24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3252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61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your attention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8732520" y="3611880"/>
            <a:ext cx="2697480" cy="0"/>
          </a:xfrm>
          <a:prstGeom prst="line">
            <a:avLst/>
          </a:prstGeom>
          <a:noFill/>
          <a:ln w="19050">
            <a:solidFill>
              <a:srgbClr val="16181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732520" y="3794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6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answer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6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732520" y="5120640"/>
            <a:ext cx="365760" cy="365760"/>
          </a:xfrm>
          <a:prstGeom prst="rect">
            <a:avLst/>
          </a:prstGeom>
          <a:solidFill>
            <a:srgbClr val="16181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189720" y="5120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· IT CAREER 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CRM онлайн-школы</dc:title>
  <dc:subject>PptxGenJS Presentation</dc:subject>
  <dc:creator>Финальный проект Python for DA</dc:creator>
  <cp:lastModifiedBy>Финальный проект Python for DA</cp:lastModifiedBy>
  <cp:revision>1</cp:revision>
  <dcterms:created xsi:type="dcterms:W3CDTF">2026-06-16T12:43:06Z</dcterms:created>
  <dcterms:modified xsi:type="dcterms:W3CDTF">2026-06-16T12:43:06Z</dcterms:modified>
</cp:coreProperties>
</file>